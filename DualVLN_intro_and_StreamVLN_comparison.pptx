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17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0E8A7D"/>
                </a:solidFill>
                <a:latin typeface="Calibri"/>
              </a:rPr>
              <a:t>GROUND SLOW, MOVE FAST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58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DualVLN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B9C4D4"/>
                </a:solidFill>
                <a:latin typeface="Calibri"/>
              </a:rPr>
              <a:t>A Dual-System Foundation Model for
Generalizable Vision-and-Language Navigation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315968"/>
            <a:ext cx="2743200" cy="25400"/>
          </a:xfrm>
          <a:prstGeom prst="rect">
            <a:avLst/>
          </a:prstGeom>
          <a:solidFill>
            <a:srgbClr val="1C2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61772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700" b="0">
                <a:solidFill>
                  <a:srgbClr val="8C99AB"/>
                </a:solidFill>
                <a:latin typeface="Calibri"/>
              </a:rPr>
              <a:t>What it is, how it works, and how it compares with </a:t>
            </a:r>
            <a:r>
              <a:rPr sz="1700" b="1">
                <a:solidFill>
                  <a:srgbClr val="D97706"/>
                </a:solidFill>
                <a:latin typeface="Calibri"/>
              </a:rPr>
              <a:t>StreamVLN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707D90"/>
                </a:solidFill>
                <a:latin typeface="Calibri"/>
              </a:rPr>
              <a:t>Wei, Wan, Peng, Yu, Yang, Feng, Cai, Zhu, Wang, Pang, Liu · arXiv:2512.08186 · December 2025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07D90"/>
                </a:solidFill>
                <a:latin typeface="Calibri"/>
              </a:rPr>
              <a:t>Checkpoint: InternRobotics/InternVLA-N1-DualVLN  ·  Code: InternRobotics/InternNav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8A7D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D24"/>
                </a:solidFill>
                <a:latin typeface="Calibri"/>
              </a:rPr>
              <a:t>What this talk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786384" cy="4572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5349240" cy="449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0"/>
              </a:spcAft>
            </a:pPr>
            <a:r>
              <a:rPr sz="1550" b="1">
                <a:solidFill>
                  <a:srgbClr val="0E8A7D"/>
                </a:solidFill>
                <a:latin typeface="Calibri"/>
              </a:rPr>
              <a:t>▍ </a:t>
            </a:r>
            <a:r>
              <a:rPr sz="1550" b="1">
                <a:solidFill>
                  <a:srgbClr val="1A1D24"/>
                </a:solidFill>
                <a:latin typeface="Calibri"/>
              </a:rPr>
              <a:t>1  Background</a:t>
            </a:r>
            <a:r>
              <a:rPr sz="1550" b="0">
                <a:solidFill>
                  <a:srgbClr val="6B7280"/>
                </a:solidFill>
                <a:latin typeface="Calibri"/>
              </a:rPr>
              <a:t>  VLN-CE, the task and its metrics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0"/>
              </a:spcAft>
            </a:pPr>
            <a:r>
              <a:rPr sz="1550" b="1">
                <a:solidFill>
                  <a:srgbClr val="0E8A7D"/>
                </a:solidFill>
                <a:latin typeface="Calibri"/>
              </a:rPr>
              <a:t>▍ </a:t>
            </a:r>
            <a:r>
              <a:rPr sz="1550" b="1">
                <a:solidFill>
                  <a:srgbClr val="1A1D24"/>
                </a:solidFill>
                <a:latin typeface="Calibri"/>
              </a:rPr>
              <a:t>2  The problem</a:t>
            </a:r>
            <a:r>
              <a:rPr sz="1550" b="0">
                <a:solidFill>
                  <a:srgbClr val="6B7280"/>
                </a:solidFill>
                <a:latin typeface="Calibri"/>
              </a:rPr>
              <a:t>  why end-to-end VLM → discrete action hurts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0"/>
              </a:spcAft>
            </a:pPr>
            <a:r>
              <a:rPr sz="1550" b="1">
                <a:solidFill>
                  <a:srgbClr val="0E8A7D"/>
                </a:solidFill>
                <a:latin typeface="Calibri"/>
              </a:rPr>
              <a:t>▍ </a:t>
            </a:r>
            <a:r>
              <a:rPr sz="1550" b="1">
                <a:solidFill>
                  <a:srgbClr val="1A1D24"/>
                </a:solidFill>
                <a:latin typeface="Calibri"/>
              </a:rPr>
              <a:t>3  DualVLN</a:t>
            </a:r>
            <a:r>
              <a:rPr sz="1550" b="0">
                <a:solidFill>
                  <a:srgbClr val="6B7280"/>
                </a:solidFill>
                <a:latin typeface="Calibri"/>
              </a:rPr>
              <a:t>  System 2, System 1, and latent plans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0"/>
              </a:spcAft>
            </a:pPr>
            <a:r>
              <a:rPr sz="1550" b="1">
                <a:solidFill>
                  <a:srgbClr val="0E8A7D"/>
                </a:solidFill>
                <a:latin typeface="Calibri"/>
              </a:rPr>
              <a:t>▍ </a:t>
            </a:r>
            <a:r>
              <a:rPr sz="1550" b="1">
                <a:solidFill>
                  <a:srgbClr val="1A1D24"/>
                </a:solidFill>
                <a:latin typeface="Calibri"/>
              </a:rPr>
              <a:t>4  Results</a:t>
            </a:r>
            <a:r>
              <a:rPr sz="1550" b="0">
                <a:solidFill>
                  <a:srgbClr val="6B7280"/>
                </a:solidFill>
                <a:latin typeface="Calibri"/>
              </a:rPr>
              <a:t>  R2R / RxR Val-Unseen against prior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27632"/>
            <a:ext cx="5120640" cy="449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0"/>
              </a:spcAft>
            </a:pPr>
            <a:r>
              <a:rPr sz="1550" b="1">
                <a:solidFill>
                  <a:srgbClr val="D97706"/>
                </a:solidFill>
                <a:latin typeface="Calibri"/>
              </a:rPr>
              <a:t>▍ </a:t>
            </a:r>
            <a:r>
              <a:rPr sz="1550" b="1">
                <a:solidFill>
                  <a:srgbClr val="1A1D24"/>
                </a:solidFill>
                <a:latin typeface="Calibri"/>
              </a:rPr>
              <a:t>5  StreamVLN</a:t>
            </a:r>
            <a:r>
              <a:rPr sz="1550" b="0">
                <a:solidFill>
                  <a:srgbClr val="6B7280"/>
                </a:solidFill>
                <a:latin typeface="Calibri"/>
              </a:rPr>
              <a:t>  slow-fast context, the model we run today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0"/>
              </a:spcAft>
            </a:pPr>
            <a:r>
              <a:rPr sz="1550" b="1">
                <a:solidFill>
                  <a:srgbClr val="D97706"/>
                </a:solidFill>
                <a:latin typeface="Calibri"/>
              </a:rPr>
              <a:t>▍ </a:t>
            </a:r>
            <a:r>
              <a:rPr sz="1550" b="1">
                <a:solidFill>
                  <a:srgbClr val="1A1D24"/>
                </a:solidFill>
                <a:latin typeface="Calibri"/>
              </a:rPr>
              <a:t>6  Head-to-head</a:t>
            </a:r>
            <a:r>
              <a:rPr sz="1550" b="0">
                <a:solidFill>
                  <a:srgbClr val="6B7280"/>
                </a:solidFill>
                <a:latin typeface="Calibri"/>
              </a:rPr>
              <a:t>  architecture, output, sensing, latency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0"/>
              </a:spcAft>
            </a:pPr>
            <a:r>
              <a:rPr sz="1550" b="1">
                <a:solidFill>
                  <a:srgbClr val="D97706"/>
                </a:solidFill>
                <a:latin typeface="Calibri"/>
              </a:rPr>
              <a:t>▍ </a:t>
            </a:r>
            <a:r>
              <a:rPr sz="1550" b="1">
                <a:solidFill>
                  <a:srgbClr val="1A1D24"/>
                </a:solidFill>
                <a:latin typeface="Calibri"/>
              </a:rPr>
              <a:t>7  Our stack</a:t>
            </a:r>
            <a:r>
              <a:rPr sz="1550" b="0">
                <a:solidFill>
                  <a:srgbClr val="6B7280"/>
                </a:solidFill>
                <a:latin typeface="Calibri"/>
              </a:rPr>
              <a:t>  one HTTP contract, one trajectory follower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0"/>
              </a:spcAft>
            </a:pPr>
            <a:r>
              <a:rPr sz="1550" b="1">
                <a:solidFill>
                  <a:srgbClr val="D97706"/>
                </a:solidFill>
                <a:latin typeface="Calibri"/>
              </a:rPr>
              <a:t>▍ </a:t>
            </a:r>
            <a:r>
              <a:rPr sz="1550" b="1">
                <a:solidFill>
                  <a:srgbClr val="1A1D24"/>
                </a:solidFill>
                <a:latin typeface="Calibri"/>
              </a:rPr>
              <a:t>8  Benchmark</a:t>
            </a:r>
            <a:r>
              <a:rPr sz="1550" b="0">
                <a:solidFill>
                  <a:srgbClr val="6B7280"/>
                </a:solidFill>
                <a:latin typeface="Calibri"/>
              </a:rPr>
              <a:t>  the controlled A/B we can now run in Isaac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DualVLN · Ground Slow, Move Fast (arXiv 2512.08186)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84687" y="63550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8A7D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D24"/>
                </a:solidFill>
                <a:latin typeface="Calibri"/>
              </a:rPr>
              <a:t>Vision-and-Language Navigation in continuous environments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786384" cy="4572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55778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E8A7D"/>
                </a:solidFill>
                <a:latin typeface="Calibri"/>
              </a:rPr>
              <a:t>The task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0" i="0">
                <a:solidFill>
                  <a:srgbClr val="1A1D24"/>
                </a:solidFill>
                <a:latin typeface="Calibri"/>
              </a:rPr>
              <a:t>Give a robot one free-form sentence — "walk past the reception desk and stop at the second door" — and it must reach the described goal in an environment it has never seen, using only its own camera stream.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6B7280"/>
                </a:solidFill>
                <a:latin typeface="Calibri"/>
              </a:rPr>
              <a:t>VLN-CE replaces the old navigation-graph teleports with continuous control, so the agent has to actually drive: no oracle waypoints, no map, no pre-built topology.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627632"/>
            <a:ext cx="5074920" cy="3246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47088"/>
            <a:ext cx="45262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100" b="1" i="0">
                <a:solidFill>
                  <a:srgbClr val="6B7280"/>
                </a:solidFill>
                <a:latin typeface="Calibri"/>
              </a:rPr>
              <a:t>THE FOUR METRICS ON EVERY SLIDE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0E8A7D"/>
                </a:solidFill>
                <a:latin typeface="Calibri"/>
              </a:rPr>
              <a:t>NE   </a:t>
            </a:r>
            <a:r>
              <a:rPr sz="1350" b="0">
                <a:solidFill>
                  <a:srgbClr val="1A1D24"/>
                </a:solidFill>
                <a:latin typeface="Calibri"/>
              </a:rPr>
              <a:t>Navigation Error — metres from the goal at stop. Lower is better.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0E8A7D"/>
                </a:solidFill>
                <a:latin typeface="Calibri"/>
              </a:rPr>
              <a:t>OS   </a:t>
            </a:r>
            <a:r>
              <a:rPr sz="1350" b="0">
                <a:solidFill>
                  <a:srgbClr val="1A1D24"/>
                </a:solidFill>
                <a:latin typeface="Calibri"/>
              </a:rPr>
              <a:t>Oracle Success — did the path ever pass within 3 m of the goal.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0E8A7D"/>
                </a:solidFill>
                <a:latin typeface="Calibri"/>
              </a:rPr>
              <a:t>SR   </a:t>
            </a:r>
            <a:r>
              <a:rPr sz="1350" b="0">
                <a:solidFill>
                  <a:srgbClr val="1A1D24"/>
                </a:solidFill>
                <a:latin typeface="Calibri"/>
              </a:rPr>
              <a:t>Success Rate — stopped within 3 m of the goal.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0E8A7D"/>
                </a:solidFill>
                <a:latin typeface="Calibri"/>
              </a:rPr>
              <a:t>SPL   </a:t>
            </a:r>
            <a:r>
              <a:rPr sz="1350" b="0">
                <a:solidFill>
                  <a:srgbClr val="1A1D24"/>
                </a:solidFill>
                <a:latin typeface="Calibri"/>
              </a:rPr>
              <a:t>Success weighted by Path Length — SR penalised for detours.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0E8A7D"/>
                </a:solidFill>
                <a:latin typeface="Calibri"/>
              </a:rPr>
              <a:t>nDTW   </a:t>
            </a:r>
            <a:r>
              <a:rPr sz="1350" b="0">
                <a:solidFill>
                  <a:srgbClr val="1A1D24"/>
                </a:solidFill>
                <a:latin typeface="Calibri"/>
              </a:rPr>
              <a:t>Path fidelity against the reference route (RxR).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12064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Benchmarks:  </a:t>
            </a:r>
            <a:r>
              <a:rPr sz="1400" b="1">
                <a:solidFill>
                  <a:srgbClr val="1A1D24"/>
                </a:solidFill>
                <a:latin typeface="Calibri"/>
              </a:rPr>
              <a:t>R2R-CE</a:t>
            </a:r>
            <a:r>
              <a:rPr sz="1400" b="0">
                <a:solidFill>
                  <a:srgbClr val="6B7280"/>
                </a:solidFill>
                <a:latin typeface="Calibri"/>
              </a:rPr>
              <a:t>  short, terse English instructions   ·   </a:t>
            </a:r>
            <a:r>
              <a:rPr sz="1400" b="1">
                <a:solidFill>
                  <a:srgbClr val="1A1D24"/>
                </a:solidFill>
                <a:latin typeface="Calibri"/>
              </a:rPr>
              <a:t>RxR-CE</a:t>
            </a:r>
            <a:r>
              <a:rPr sz="1400" b="0">
                <a:solidFill>
                  <a:srgbClr val="6B7280"/>
                </a:solidFill>
                <a:latin typeface="Calibri"/>
              </a:rPr>
              <a:t>  long, multilingual, fine-grained instructions — the harder, more path-faithful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55080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DualVLN · Ground Slow, Move Fast (arXiv 2512.08186)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84687" y="63550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8A7D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D24"/>
                </a:solidFill>
                <a:latin typeface="Calibri"/>
              </a:rPr>
              <a:t>Why one network mapping pixels → discrete actions falls short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786384" cy="4572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10972800" cy="12344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874519"/>
            <a:ext cx="1920240" cy="731520"/>
          </a:xfrm>
          <a:prstGeom prst="roundRect">
            <a:avLst>
              <a:gd name="adj" fmla="val 28000"/>
            </a:avLst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RGB frame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17520" y="2084831"/>
            <a:ext cx="548640" cy="310896"/>
          </a:xfrm>
          <a:prstGeom prst="rightArrow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03320" y="1874519"/>
            <a:ext cx="3017520" cy="731520"/>
          </a:xfrm>
          <a:prstGeom prst="roundRect">
            <a:avLst>
              <a:gd name="adj" fmla="val 28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7B Vision-Language Model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876288" y="2084831"/>
            <a:ext cx="548640" cy="310896"/>
          </a:xfrm>
          <a:prstGeom prst="rightArrow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62088" y="1874519"/>
            <a:ext cx="3291840" cy="731520"/>
          </a:xfrm>
          <a:prstGeom prst="roundRect">
            <a:avLst>
              <a:gd name="adj" fmla="val 2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FORWARD 0.25 m / TURN 15°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46120"/>
            <a:ext cx="10874959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0E8A7D"/>
                </a:solidFill>
                <a:latin typeface="Calibri"/>
              </a:rPr>
              <a:t>▍ </a:t>
            </a:r>
            <a:r>
              <a:rPr sz="1500" b="1">
                <a:solidFill>
                  <a:srgbClr val="1A1D24"/>
                </a:solidFill>
                <a:latin typeface="Calibri"/>
              </a:rPr>
              <a:t>The VLM sits in the control loop.</a:t>
            </a:r>
            <a:r>
              <a:rPr sz="1500" b="0">
                <a:solidFill>
                  <a:srgbClr val="6B7280"/>
                </a:solidFill>
                <a:latin typeface="Calibri"/>
              </a:rPr>
              <a:t>  Every motion needs another billion-parameter forward pass, so the robot moves at the speed of the language model.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0E8A7D"/>
                </a:solidFill>
                <a:latin typeface="Calibri"/>
              </a:rPr>
              <a:t>▍ </a:t>
            </a:r>
            <a:r>
              <a:rPr sz="1500" b="1">
                <a:solidFill>
                  <a:srgbClr val="1A1D24"/>
                </a:solidFill>
                <a:latin typeface="Calibri"/>
              </a:rPr>
              <a:t>Motion is quantised.</a:t>
            </a:r>
            <a:r>
              <a:rPr sz="1500" b="0">
                <a:solidFill>
                  <a:srgbClr val="6B7280"/>
                </a:solidFill>
                <a:latin typeface="Calibri"/>
              </a:rPr>
              <a:t>  A 0.25 m / 15° vocabulary cannot express a smooth arc; the robot stutters through stop-start bursts.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0E8A7D"/>
                </a:solidFill>
                <a:latin typeface="Calibri"/>
              </a:rPr>
              <a:t>▍ </a:t>
            </a:r>
            <a:r>
              <a:rPr sz="1500" b="1">
                <a:solidFill>
                  <a:srgbClr val="1A1D24"/>
                </a:solidFill>
                <a:latin typeface="Calibri"/>
              </a:rPr>
              <a:t>Reasoning horizon is short.</a:t>
            </a:r>
            <a:r>
              <a:rPr sz="1500" b="0">
                <a:solidFill>
                  <a:srgbClr val="6B7280"/>
                </a:solidFill>
                <a:latin typeface="Calibri"/>
              </a:rPr>
              <a:t>  Predicting the next few actions is not the same as committing to a plan, so long instructions drift.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0E8A7D"/>
                </a:solidFill>
                <a:latin typeface="Calibri"/>
              </a:rPr>
              <a:t>▍ </a:t>
            </a:r>
            <a:r>
              <a:rPr sz="1500" b="1">
                <a:solidFill>
                  <a:srgbClr val="1A1D24"/>
                </a:solidFill>
                <a:latin typeface="Calibri"/>
              </a:rPr>
              <a:t>No room to react.</a:t>
            </a:r>
            <a:r>
              <a:rPr sz="1500" b="0">
                <a:solidFill>
                  <a:srgbClr val="6B7280"/>
                </a:solidFill>
                <a:latin typeface="Calibri"/>
              </a:rPr>
              <a:t>  Between two VLM calls nothing is watching the world — a person stepping in front of the robot is seen late.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DualVLN · Ground Slow, Move Fast (arXiv 2512.08186)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84687" y="63550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E8A7D"/>
                </a:solidFill>
                <a:latin typeface="Calibri"/>
              </a:rPr>
              <a:t>THE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Ground Slow, Move Fast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8B4C6"/>
                </a:solidFill>
                <a:latin typeface="Calibri"/>
              </a:rPr>
              <a:t>A Dual-System Foundation Model for Generalizable Vision-and-Language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0E8A7D"/>
                </a:solidFill>
                <a:latin typeface="Calibri"/>
              </a:rPr>
              <a:t>ARXIV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4EAF2"/>
                </a:solidFill>
                <a:latin typeface="Calibri"/>
              </a:rPr>
              <a:t>2512.08186  ·  9 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5968" y="278892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0E8A7D"/>
                </a:solidFill>
                <a:latin typeface="Calibri"/>
              </a:rPr>
              <a:t>AUTHORS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4EAF2"/>
                </a:solidFill>
                <a:latin typeface="Calibri"/>
              </a:rPr>
              <a:t>Meng Wei, Chenyang Wan, Jiaqi Peng, Xiqian Yu,
Yuqiang Yang, Delin Feng, Wenzhe Cai, Chenming Zhu,
Tai Wang, Jiangmiao Pang, Xihui Liu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278892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0E8A7D"/>
                </a:solidFill>
                <a:latin typeface="Calibri"/>
              </a:rPr>
              <a:t>MODEL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4EAF2"/>
                </a:solidFill>
                <a:latin typeface="Calibri"/>
              </a:rPr>
              <a:t>InternVLA-N1-DualVLN  ·  8B params  ·  BF16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48056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0E8A7D"/>
                </a:solidFill>
                <a:latin typeface="Calibri"/>
              </a:rPr>
              <a:t>LICENCE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4EAF2"/>
                </a:solidFill>
                <a:latin typeface="Calibri"/>
              </a:rPr>
              <a:t>CC BY-NC-SA 4.0  (non-commercial)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448056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0E8A7D"/>
                </a:solidFill>
                <a:latin typeface="Calibri"/>
              </a:rPr>
              <a:t>CODE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4EAF2"/>
                </a:solidFill>
                <a:latin typeface="Calibri"/>
              </a:rPr>
              <a:t>github.com/InternRobotics/InternNav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2910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E7B8E"/>
                </a:solidFill>
                <a:latin typeface="Calibri"/>
              </a:rPr>
              <a:t>Positioned as the dual-system release of the InternVLA-N1 navigation foundation model 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8A7D"/>
                </a:solidFill>
                <a:latin typeface="Calibri"/>
              </a:rPr>
              <a:t>DUALVLN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D24"/>
                </a:solidFill>
                <a:latin typeface="Calibri"/>
              </a:rPr>
              <a:t>Two systems, running at two different speeds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786384" cy="4572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349240" cy="3383280"/>
          </a:xfrm>
          <a:prstGeom prst="roundRect">
            <a:avLst>
              <a:gd name="adj" fmla="val 6000"/>
            </a:avLst>
          </a:prstGeom>
          <a:solidFill>
            <a:srgbClr val="E7F4F2"/>
          </a:solidFill>
          <a:ln w="15875">
            <a:solidFill>
              <a:srgbClr val="0E8A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8920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0E8A7D"/>
                </a:solidFill>
                <a:latin typeface="Calibri"/>
              </a:rPr>
              <a:t>SYSTEM 2   </a:t>
            </a:r>
            <a:r>
              <a:rPr sz="1200" b="0">
                <a:solidFill>
                  <a:srgbClr val="6B7280"/>
                </a:solidFill>
                <a:latin typeface="Calibri"/>
              </a:rPr>
              <a:t>“ground slow”  ~2 Hz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1" i="0">
                <a:solidFill>
                  <a:srgbClr val="1A1D24"/>
                </a:solidFill>
                <a:latin typeface="Calibri"/>
              </a:rPr>
              <a:t>VLM global planner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A1D24"/>
                </a:solidFill>
                <a:latin typeface="Calibri"/>
              </a:rPr>
              <a:t>Qwen2.5-VL (7B), fully fine-tuned.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Reads the instruction and the current image and grounds the next sub-goal as a pixel goal — a point in the image — then emits a latent plan for System 1.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8A7D"/>
                </a:solidFill>
                <a:latin typeface="Calibri"/>
              </a:rPr>
              <a:t>≈ 0.7 s</a:t>
            </a:r>
            <a:r>
              <a:rPr sz="1350" b="0">
                <a:solidFill>
                  <a:srgbClr val="6B7280"/>
                </a:solidFill>
                <a:latin typeface="Calibri"/>
              </a:rPr>
              <a:t>  per trajectory-token inference with KV-cache reuse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91640"/>
            <a:ext cx="5138928" cy="338328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587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2" y="1874519"/>
            <a:ext cx="4617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A1D24"/>
                </a:solidFill>
                <a:latin typeface="Calibri"/>
              </a:rPr>
              <a:t>SYSTEM 1   </a:t>
            </a:r>
            <a:r>
              <a:rPr sz="1200" b="0">
                <a:solidFill>
                  <a:srgbClr val="6B7280"/>
                </a:solidFill>
                <a:latin typeface="Calibri"/>
              </a:rPr>
              <a:t>“move fast”  ~30 Hz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1" i="0">
                <a:solidFill>
                  <a:srgbClr val="1A1D24"/>
                </a:solidFill>
                <a:latin typeface="Calibri"/>
              </a:rPr>
              <a:t>Diffusion Transformer policy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A1D24"/>
                </a:solidFill>
                <a:latin typeface="Calibri"/>
              </a:rPr>
              <a:t>384 hidden dim · 12 layers · 6 heads · DepthAnythingV2-Small ViT encoder.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Conditioned on the pixel goal and System 2's latent features, it outputs a short continuous trajectory rather than a discrete action.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1D24"/>
                </a:solidFill>
                <a:latin typeface="Calibri"/>
              </a:rPr>
              <a:t>32 trajectories in 0.03 s</a:t>
            </a:r>
            <a:r>
              <a:rPr sz="1350" b="0">
                <a:solidFill>
                  <a:srgbClr val="6B7280"/>
                </a:solidFill>
                <a:latin typeface="Calibri"/>
              </a:rPr>
              <a:t>  in parallel with TensorRT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285232"/>
            <a:ext cx="10625328" cy="777240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8A7D"/>
                </a:solidFill>
                <a:latin typeface="Calibri"/>
              </a:rPr>
              <a:t>Asynchronous by design.  </a:t>
            </a:r>
            <a:r>
              <a:rPr sz="1500" b="0">
                <a:solidFill>
                  <a:srgbClr val="FFFFFF"/>
                </a:solidFill>
                <a:latin typeface="Calibri"/>
              </a:rPr>
              <a:t>System 1 keeps driving while System 2 is still thinking — the robot never waits for the language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DualVLN · Ground Slow, Move Fast (arXiv 2512.08186)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4687" y="63550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8A7D"/>
                </a:solidFill>
                <a:latin typeface="Calibri"/>
              </a:rPr>
              <a:t>WHAT IS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D24"/>
                </a:solidFill>
                <a:latin typeface="Calibri"/>
              </a:rPr>
              <a:t>The key idea: latent plans instead of an explicit pixel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786384" cy="4572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53949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1D24"/>
                </a:solidFill>
                <a:latin typeface="Calibri"/>
              </a:rPr>
              <a:t>A pixel goal is ambiguous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"Go to that doorway" pinned to one image coordinate loses everything the planner knew but could not draw: which side to pass on, how far past it to stop, what the instruction said next.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A1D24"/>
                </a:solidFill>
                <a:latin typeface="Calibri"/>
              </a:rPr>
              <a:t>A latent plan keeps it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System 2 hands System 1 a learned latent vector as well. It is a richer intermediate representation than a point, and it is trained end-to-end with the controller that consumes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627632"/>
            <a:ext cx="5074920" cy="356616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4805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100" b="1" i="0">
                <a:solidFill>
                  <a:srgbClr val="6B7280"/>
                </a:solidFill>
                <a:latin typeface="Calibri"/>
              </a:rPr>
              <a:t>TWO-STAGE CURRICULUM TRAINING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0E8A7D"/>
                </a:solidFill>
                <a:latin typeface="Calibri"/>
              </a:rPr>
              <a:t>Stage 1   </a:t>
            </a:r>
            <a:r>
              <a:rPr sz="1400" b="0">
                <a:solidFill>
                  <a:srgbClr val="1A1D24"/>
                </a:solidFill>
                <a:latin typeface="Calibri"/>
              </a:rPr>
              <a:t>Pre-train both systems separately, supervised by / conditioned on explicit pixel goals.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0E8A7D"/>
                </a:solidFill>
                <a:latin typeface="Calibri"/>
              </a:rPr>
              <a:t>Stage 2   </a:t>
            </a:r>
            <a:r>
              <a:rPr sz="1400" b="0">
                <a:solidFill>
                  <a:srgbClr val="1A1D24"/>
                </a:solidFill>
                <a:latin typeface="Calibri"/>
              </a:rPr>
              <a:t>Freeze System 2. Fine-tune the newly added latent plans jointly with System 1, asynchronously and end-to-end.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8A7D"/>
                </a:solidFill>
                <a:latin typeface="Calibri"/>
              </a:rPr>
              <a:t>Result   </a:t>
            </a:r>
            <a:r>
              <a:rPr sz="1400" b="0">
                <a:solidFill>
                  <a:srgbClr val="6B7280"/>
                </a:solidFill>
                <a:latin typeface="Calibri"/>
              </a:rPr>
              <a:t>faster convergence and better end-to-end performance than the earlier explicit-goal InternVLA-N1 variants.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532120"/>
            <a:ext cx="1087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7280"/>
                </a:solidFill>
                <a:latin typeface="Calibri"/>
              </a:rPr>
              <a:t>Read it as:  </a:t>
            </a:r>
            <a:r>
              <a:rPr sz="1500" b="0">
                <a:solidFill>
                  <a:srgbClr val="1A1D24"/>
                </a:solidFill>
                <a:latin typeface="Calibri"/>
              </a:rPr>
              <a:t>the VLM stops being a controller and becomes a planner; a small fast policy becomes the controller.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55080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DualVLN · Ground Slow, Move Fast (arXiv 2512.08186)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84687" y="63550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8A7D"/>
                </a:solidFill>
                <a:latin typeface="Calibri"/>
              </a:rPr>
              <a:t>RESULTS · R2R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D24"/>
                </a:solidFill>
                <a:latin typeface="Calibri"/>
              </a:rPr>
              <a:t>DualVLN leads every VLN-CE metric it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786384" cy="4572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2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37360"/>
            <a:ext cx="10881360" cy="31814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138928"/>
            <a:ext cx="108749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8A7D"/>
                </a:solidFill>
                <a:latin typeface="Calibri"/>
              </a:rPr>
              <a:t>+7.4 SR and +6.6 SPL over StreamVLN</a:t>
            </a:r>
            <a:r>
              <a:rPr sz="1600" b="0">
                <a:solidFill>
                  <a:srgbClr val="1A1D24"/>
                </a:solidFill>
                <a:latin typeface="Calibri"/>
              </a:rPr>
              <a:t>  on R2R Val-Unseen, and it beats NaVILA, Uni-NaVid and NaVid by a wider margin still.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All numbers as reported in the DualVLN paper's comparison table (arXiv 2512.08186). StreamVLN's own paper reports 56.4 SR / 50.2 SPL for its released checkpoint and 56.9 / 51.9 as its headline.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DualVLN · Ground Slow, Move Fast (arXiv 2512.08186)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84687" y="63550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8A7D"/>
                </a:solidFill>
                <a:latin typeface="Calibri"/>
              </a:rPr>
              <a:t>RESULTS · RXR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D24"/>
                </a:solidFill>
                <a:latin typeface="Calibri"/>
              </a:rPr>
              <a:t>The gap widens on the harder, path-faithful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786384" cy="4572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x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0784"/>
            <a:ext cx="10881360" cy="31814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102352"/>
            <a:ext cx="1087495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0E8A7D"/>
                </a:solidFill>
                <a:latin typeface="Calibri"/>
              </a:rPr>
              <a:t>+8.5 SR, +5.8 SPL, +8.1 nDTW over StreamVLN</a:t>
            </a:r>
            <a:r>
              <a:rPr sz="1550" b="0">
                <a:solidFill>
                  <a:srgbClr val="1A1D24"/>
                </a:solidFill>
                <a:latin typeface="Calibri"/>
              </a:rPr>
              <a:t>  on RxR Val-Unseen. The nDTW jump matters most: it says DualVLN follows the described route, not just that it arrives.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D24"/>
                </a:solidFill>
                <a:latin typeface="Calibri"/>
              </a:rPr>
              <a:t>Navigation error falls from 6.22 m to 4.58 m</a:t>
            </a:r>
            <a:r>
              <a:rPr sz="1400" b="0">
                <a:solidFill>
                  <a:srgbClr val="6B7280"/>
                </a:solidFill>
                <a:latin typeface="Calibri"/>
              </a:rPr>
              <a:t>  — the continuous controller stops closer to where the instruction actually pointed.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DualVLN · Ground Slow, Move Fast (arXiv 2512.08186)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84687" y="63550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Calibri"/>
              </a:rPr>
              <a:t>THE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D24"/>
                </a:solidFill>
                <a:latin typeface="Calibri"/>
              </a:rPr>
              <a:t>StreamVLN — the model we are running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786384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53949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A1D24"/>
                </a:solidFill>
                <a:latin typeface="Calibri"/>
              </a:rPr>
              <a:t>Streaming VLN via slow-fast context modelling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6B7280"/>
                </a:solidFill>
                <a:latin typeface="Calibri"/>
              </a:rPr>
              <a:t>arXiv:2507.05240 · ICRA 2026 · InternRobotics — the same lab that released DualVLN.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D24"/>
                </a:solidFill>
                <a:latin typeface="Calibri"/>
              </a:rPr>
              <a:t>StreamVLN attacks the same latency problem, but from the context side rather than the architecture side: keep one VLM, make its history cheap enough to run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627632"/>
            <a:ext cx="5074920" cy="269748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4805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100" b="1" i="0">
                <a:solidFill>
                  <a:srgbClr val="D97706"/>
                </a:solidFill>
                <a:latin typeface="Calibri"/>
              </a:rPr>
              <a:t>HOW IT KEEPS UP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A1D24"/>
                </a:solidFill>
                <a:latin typeface="Calibri"/>
              </a:rPr>
              <a:t>Fast dialogue context   </a:t>
            </a:r>
            <a:r>
              <a:rPr sz="1350" b="0">
                <a:solidFill>
                  <a:srgbClr val="6B7280"/>
                </a:solidFill>
                <a:latin typeface="Calibri"/>
              </a:rPr>
              <a:t>sliding window of 8 multi-turn dialogues drives responsive action generation.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A1D24"/>
                </a:solidFill>
                <a:latin typeface="Calibri"/>
              </a:rPr>
              <a:t>Slow memory context   </a:t>
            </a:r>
            <a:r>
              <a:rPr sz="1350" b="0">
                <a:solidFill>
                  <a:srgbClr val="6B7280"/>
                </a:solidFill>
                <a:latin typeface="Calibri"/>
              </a:rPr>
              <a:t>8 × 196 tokens of compressed history, pruned with a 3D-aware voxel strategy (−28 % to −32 % tokens).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A1D24"/>
                </a:solidFill>
                <a:latin typeface="Calibri"/>
              </a:rPr>
              <a:t>KV-cache reuse   </a:t>
            </a:r>
            <a:r>
              <a:rPr sz="1350" b="0">
                <a:solidFill>
                  <a:srgbClr val="6B7280"/>
                </a:solidFill>
                <a:latin typeface="Calibri"/>
              </a:rPr>
              <a:t>over 99 % of prefill time removed; context size and cost stay bounded on long streams.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4864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B7280"/>
                </a:solidFill>
                <a:latin typeface="Calibri"/>
              </a:rPr>
              <a:t>Backbone  </a:t>
            </a:r>
            <a:r>
              <a:rPr sz="1400" b="1">
                <a:solidFill>
                  <a:srgbClr val="1A1D24"/>
                </a:solidFill>
                <a:latin typeface="Calibri"/>
              </a:rPr>
              <a:t>LLaVA-Video 7B / Qwen2-7B</a:t>
            </a:r>
            <a:r>
              <a:rPr sz="1400" b="1">
                <a:solidFill>
                  <a:srgbClr val="6B7280"/>
                </a:solidFill>
                <a:latin typeface="Calibri"/>
              </a:rPr>
              <a:t>     Output  </a:t>
            </a:r>
            <a:r>
              <a:rPr sz="1400" b="1">
                <a:solidFill>
                  <a:srgbClr val="1A1D24"/>
                </a:solidFill>
                <a:latin typeface="Calibri"/>
              </a:rPr>
              <a:t>4 discrete actions per call</a:t>
            </a:r>
            <a:r>
              <a:rPr sz="1400" b="1">
                <a:solidFill>
                  <a:srgbClr val="6B7280"/>
                </a:solidFill>
                <a:latin typeface="Calibri"/>
              </a:rPr>
              <a:t>     Latency  </a:t>
            </a:r>
            <a:r>
              <a:rPr sz="1400" b="1">
                <a:solidFill>
                  <a:srgbClr val="1A1D24"/>
                </a:solidFill>
                <a:latin typeface="Calibri"/>
              </a:rPr>
              <a:t>0.27 s per call</a:t>
            </a:r>
            <a:r>
              <a:rPr sz="1400" b="1">
                <a:solidFill>
                  <a:srgbClr val="6B7280"/>
                </a:solidFill>
                <a:latin typeface="Calibri"/>
              </a:rPr>
              <a:t>     Training  </a:t>
            </a:r>
            <a:r>
              <a:rPr sz="1400" b="1">
                <a:solidFill>
                  <a:srgbClr val="1A1D24"/>
                </a:solidFill>
                <a:latin typeface="Calibri"/>
              </a:rPr>
              <a:t>1 500 A100-hours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55080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StreamVLN · SlowFast Context Modeling (arXiv 2507.05240)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84687" y="63550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8A7D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D24"/>
                </a:solidFill>
                <a:latin typeface="Calibri"/>
              </a:rPr>
              <a:t>Head-to-head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786384" cy="4572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627632"/>
          <a:ext cx="10881358" cy="44256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5096"/>
                <a:gridCol w="3978131"/>
                <a:gridCol w="3978131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18872" marR="91440" marT="36576" marB="36576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DualVLN</a:t>
                      </a:r>
                    </a:p>
                  </a:txBody>
                  <a:tcPr marL="118872" marR="91440" marT="36576" marB="36576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StreamVLN</a:t>
                      </a:r>
                    </a:p>
                  </a:txBody>
                  <a:tcPr marL="118872" marR="91440" marT="36576" marB="36576" anchor="ctr">
                    <a:solidFill>
                      <a:srgbClr val="10182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D24"/>
                          </a:solidFill>
                          <a:latin typeface="Calibri"/>
                        </a:rPr>
                        <a:t>Core idea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8A7D"/>
                          </a:solidFill>
                          <a:latin typeface="Calibri"/>
                        </a:rPr>
                        <a:t>Split planning from control: two systems, two rates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7706"/>
                          </a:solidFill>
                          <a:latin typeface="Calibri"/>
                        </a:rPr>
                        <a:t>Keep one VLM, make its context cheap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D24"/>
                          </a:solidFill>
                          <a:latin typeface="Calibri"/>
                        </a:rPr>
                        <a:t>System 2 / backbone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8A7D"/>
                          </a:solidFill>
                          <a:latin typeface="Calibri"/>
                        </a:rPr>
                        <a:t>Qwen2.5-VL 7B pixel-goal planner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7706"/>
                          </a:solidFill>
                          <a:latin typeface="Calibri"/>
                        </a:rPr>
                        <a:t>LLaVA-Video 7B (Qwen2-7B)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D24"/>
                          </a:solidFill>
                          <a:latin typeface="Calibri"/>
                        </a:rPr>
                        <a:t>System 1 / controller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8A7D"/>
                          </a:solidFill>
                          <a:latin typeface="Calibri"/>
                        </a:rPr>
                        <a:t>Diffusion Transformer, 384-d, 12 layers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7706"/>
                          </a:solidFill>
                          <a:latin typeface="Calibri"/>
                        </a:rPr>
                        <a:t>— none, the VLM is the controller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D24"/>
                          </a:solidFill>
                          <a:latin typeface="Calibri"/>
                        </a:rPr>
                        <a:t>Model output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8A7D"/>
                          </a:solidFill>
                          <a:latin typeface="Calibri"/>
                        </a:rPr>
                        <a:t>Continuous trajectory (waypoints)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7706"/>
                          </a:solidFill>
                          <a:latin typeface="Calibri"/>
                        </a:rPr>
                        <a:t>4 discrete actions (0.25 m / 15°)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D24"/>
                          </a:solidFill>
                          <a:latin typeface="Calibri"/>
                        </a:rPr>
                        <a:t>Interface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8A7D"/>
                          </a:solidFill>
                          <a:latin typeface="Calibri"/>
                        </a:rPr>
                        <a:t>Latent plan + pixel goal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7706"/>
                          </a:solidFill>
                          <a:latin typeface="Calibri"/>
                        </a:rPr>
                        <a:t>Autoregressive action tokens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D24"/>
                          </a:solidFill>
                          <a:latin typeface="Calibri"/>
                        </a:rPr>
                        <a:t>Planner rate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8A7D"/>
                          </a:solidFill>
                          <a:latin typeface="Calibri"/>
                        </a:rPr>
                        <a:t>≈ 2 Hz  (0.7 s)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7706"/>
                          </a:solidFill>
                          <a:latin typeface="Calibri"/>
                        </a:rPr>
                        <a:t>≈ 3.7 Hz  (0.27 s per 4 actions)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D24"/>
                          </a:solidFill>
                          <a:latin typeface="Calibri"/>
                        </a:rPr>
                        <a:t>Control rate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8A7D"/>
                          </a:solidFill>
                          <a:latin typeface="Calibri"/>
                        </a:rPr>
                        <a:t>≈ 30 Hz  (0.03 s for 32 trajectories)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7706"/>
                          </a:solidFill>
                          <a:latin typeface="Calibri"/>
                        </a:rPr>
                        <a:t>Tied to the VLM call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D24"/>
                          </a:solidFill>
                          <a:latin typeface="Calibri"/>
                        </a:rPr>
                        <a:t>Reacts mid-plan?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8A7D"/>
                          </a:solidFill>
                          <a:latin typeface="Calibri"/>
                        </a:rPr>
                        <a:t>Yes — System 1 replans continuously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7706"/>
                          </a:solidFill>
                          <a:latin typeface="Calibri"/>
                        </a:rPr>
                        <a:t>Only at the next VLM call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D24"/>
                          </a:solidFill>
                          <a:latin typeface="Calibri"/>
                        </a:rPr>
                        <a:t>R2R Val-Unseen  SR / SPL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8A7D"/>
                          </a:solidFill>
                          <a:latin typeface="Calibri"/>
                        </a:rPr>
                        <a:t>64.3 / 58.5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7706"/>
                          </a:solidFill>
                          <a:latin typeface="Calibri"/>
                        </a:rPr>
                        <a:t>56.9 / 51.9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D24"/>
                          </a:solidFill>
                          <a:latin typeface="Calibri"/>
                        </a:rPr>
                        <a:t>RxR Val-Unseen  SR / SPL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8A7D"/>
                          </a:solidFill>
                          <a:latin typeface="Calibri"/>
                        </a:rPr>
                        <a:t>61.4 / 51.8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7706"/>
                          </a:solidFill>
                          <a:latin typeface="Calibri"/>
                        </a:rPr>
                        <a:t>52.9 / 46.0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6144768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280"/>
                </a:solidFill>
                <a:latin typeface="Calibri"/>
              </a:rPr>
              <a:t>Rates are the figures each paper reports for its own deployment; they are not measured on the same hardware.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Comparison · DualVLN vs StreamVLN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84687" y="63550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8A7D"/>
                </a:solidFill>
                <a:latin typeface="Calibri"/>
              </a:rPr>
              <a:t>OUTPUT &amp;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D24"/>
                </a:solidFill>
                <a:latin typeface="Calibri"/>
              </a:rPr>
              <a:t>The difference that matters for a real robot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786384" cy="4572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10881360" cy="178308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97706"/>
                </a:solidFill>
                <a:latin typeface="Calibri"/>
              </a:rPr>
              <a:t>StreamVLN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331720"/>
            <a:ext cx="1645920" cy="548640"/>
          </a:xfrm>
          <a:prstGeom prst="roundRect">
            <a:avLst>
              <a:gd name="adj" fmla="val 2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FORWARD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37760" y="2487168"/>
            <a:ext cx="320040" cy="237744"/>
          </a:xfrm>
          <a:prstGeom prst="rightArrow">
            <a:avLst/>
          </a:prstGeom>
          <a:solidFill>
            <a:srgbClr val="E8B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0" y="2331720"/>
            <a:ext cx="1645920" cy="548640"/>
          </a:xfrm>
          <a:prstGeom prst="roundRect">
            <a:avLst>
              <a:gd name="adj" fmla="val 2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FORWARD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12280" y="2487168"/>
            <a:ext cx="320040" cy="237744"/>
          </a:xfrm>
          <a:prstGeom prst="rightArrow">
            <a:avLst/>
          </a:prstGeom>
          <a:solidFill>
            <a:srgbClr val="E8B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95159" y="2331720"/>
            <a:ext cx="1645920" cy="548640"/>
          </a:xfrm>
          <a:prstGeom prst="roundRect">
            <a:avLst>
              <a:gd name="adj" fmla="val 2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TURN 15°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686800" y="2487168"/>
            <a:ext cx="320040" cy="237744"/>
          </a:xfrm>
          <a:prstGeom prst="rightArrow">
            <a:avLst/>
          </a:prstGeom>
          <a:solidFill>
            <a:srgbClr val="E8B9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0" y="2331720"/>
            <a:ext cx="1645920" cy="548640"/>
          </a:xfrm>
          <a:prstGeom prst="roundRect">
            <a:avLst>
              <a:gd name="adj" fmla="val 2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FORWARD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95728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one call →
4 quantised steps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57600"/>
            <a:ext cx="10881360" cy="1783080"/>
          </a:xfrm>
          <a:prstGeom prst="roundRect">
            <a:avLst>
              <a:gd name="adj" fmla="val 6000"/>
            </a:avLst>
          </a:prstGeom>
          <a:solidFill>
            <a:srgbClr val="E7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130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8A7D"/>
                </a:solidFill>
                <a:latin typeface="Calibri"/>
              </a:rPr>
              <a:t>DualVLN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61688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one call →
a continuous path</a:t>
            </a:r>
          </a:p>
        </p:txBody>
      </p:sp>
      <p:sp>
        <p:nvSpPr>
          <p:cNvPr id="19" name="Oval 18"/>
          <p:cNvSpPr/>
          <p:nvPr/>
        </p:nvSpPr>
        <p:spPr>
          <a:xfrm>
            <a:off x="3383280" y="4626864"/>
            <a:ext cx="173736" cy="173736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24528" y="4572000"/>
            <a:ext cx="173736" cy="173736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65776" y="4480560"/>
            <a:ext cx="173736" cy="173736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07024" y="4379976"/>
            <a:ext cx="173736" cy="173736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48272" y="4297680"/>
            <a:ext cx="173736" cy="173736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89520" y="4261104"/>
            <a:ext cx="173736" cy="173736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30768" y="4279392"/>
            <a:ext cx="173736" cy="173736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72016" y="4352544"/>
            <a:ext cx="173736" cy="173736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13264" y="4453128"/>
            <a:ext cx="173736" cy="173736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54512" y="4553712"/>
            <a:ext cx="173736" cy="173736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66928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8A7D"/>
                </a:solidFill>
                <a:latin typeface="Calibri"/>
              </a:rPr>
              <a:t>▍ </a:t>
            </a:r>
            <a:r>
              <a:rPr sz="1400" b="1">
                <a:solidFill>
                  <a:srgbClr val="1A1D24"/>
                </a:solidFill>
                <a:latin typeface="Calibri"/>
              </a:rPr>
              <a:t>Smoothness.</a:t>
            </a:r>
            <a:r>
              <a:rPr sz="1400" b="0">
                <a:solidFill>
                  <a:srgbClr val="6B7280"/>
                </a:solidFill>
                <a:latin typeface="Calibri"/>
              </a:rPr>
              <a:t>  A trajectory can be tracked by a normal velocity controller; an action list cannot be, without stop-start motion.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8A7D"/>
                </a:solidFill>
                <a:latin typeface="Calibri"/>
              </a:rPr>
              <a:t>▍ </a:t>
            </a:r>
            <a:r>
              <a:rPr sz="1400" b="1">
                <a:solidFill>
                  <a:srgbClr val="1A1D24"/>
                </a:solidFill>
                <a:latin typeface="Calibri"/>
              </a:rPr>
              <a:t>Reactivity.</a:t>
            </a:r>
            <a:r>
              <a:rPr sz="1400" b="0">
                <a:solidFill>
                  <a:srgbClr val="6B7280"/>
                </a:solidFill>
                <a:latin typeface="Calibri"/>
              </a:rPr>
              <a:t>  System 1 re-emits a path ~30× per second, so an obstacle appearing mid-plan is handled before the planner even notices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Comparison · DualVLN vs StreamVLN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84687" y="63550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8A7D"/>
                </a:solidFill>
                <a:latin typeface="Calibri"/>
              </a:rPr>
              <a:t>BEFORE YOU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D24"/>
                </a:solidFill>
                <a:latin typeface="Calibri"/>
              </a:rPr>
              <a:t>Sensing, licensing, and the practical caveats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786384" cy="4572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627632"/>
          <a:ext cx="10881360" cy="33284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47035"/>
                <a:gridCol w="4533900"/>
                <a:gridCol w="3400425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18872" marR="91440" marT="36576" marB="36576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DualVLN</a:t>
                      </a:r>
                    </a:p>
                  </a:txBody>
                  <a:tcPr marL="118872" marR="91440" marT="36576" marB="36576" anchor="ctr">
                    <a:solidFill>
                      <a:srgbClr val="1018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StreamVLN</a:t>
                      </a:r>
                    </a:p>
                  </a:txBody>
                  <a:tcPr marL="118872" marR="91440" marT="36576" marB="36576" anchor="ctr">
                    <a:solidFill>
                      <a:srgbClr val="10182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D24"/>
                          </a:solidFill>
                          <a:latin typeface="Calibri"/>
                        </a:rPr>
                        <a:t>Policy input (paper)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8A7D"/>
                          </a:solidFill>
                          <a:latin typeface="Calibri"/>
                        </a:rPr>
                        <a:t>RGB — model card states depth not required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7706"/>
                          </a:solidFill>
                          <a:latin typeface="Calibri"/>
                        </a:rPr>
                        <a:t>RGB stream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D24"/>
                          </a:solidFill>
                          <a:latin typeface="Calibri"/>
                        </a:rPr>
                        <a:t>Released deployment code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8A7D"/>
                          </a:solidFill>
                          <a:latin typeface="Calibri"/>
                        </a:rPr>
                        <a:t>Takes paired RGB + metric depth + intrinsics; System 1 consumes depth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7706"/>
                          </a:solidFill>
                          <a:latin typeface="Calibri"/>
                        </a:rPr>
                        <a:t>RGB JPEG only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D24"/>
                          </a:solidFill>
                          <a:latin typeface="Calibri"/>
                        </a:rPr>
                        <a:t>Licence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8A7D"/>
                          </a:solidFill>
                          <a:latin typeface="Calibri"/>
                        </a:rPr>
                        <a:t>CC BY-NC-SA 4.0 — non-commercial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7706"/>
                          </a:solidFill>
                          <a:latin typeface="Calibri"/>
                        </a:rPr>
                        <a:t>See StreamVLN repo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D24"/>
                          </a:solidFill>
                          <a:latin typeface="Calibri"/>
                        </a:rPr>
                        <a:t>Model size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8A7D"/>
                          </a:solidFill>
                          <a:latin typeface="Calibri"/>
                        </a:rPr>
                        <a:t>8B (7B VLM + small DiT)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7706"/>
                          </a:solidFill>
                          <a:latin typeface="Calibri"/>
                        </a:rPr>
                        <a:t>7B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D24"/>
                          </a:solidFill>
                          <a:latin typeface="Calibri"/>
                        </a:rPr>
                        <a:t>Real-robot platforms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8A7D"/>
                          </a:solidFill>
                          <a:latin typeface="Calibri"/>
                        </a:rPr>
                        <a:t>Turtlebot4, Unitree Go2, Unitree G1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7706"/>
                          </a:solidFill>
                          <a:latin typeface="Calibri"/>
                        </a:rPr>
                        <a:t>Unitree Go2</a:t>
                      </a:r>
                    </a:p>
                  </a:txBody>
                  <a:tcPr marL="118872" marR="91440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D24"/>
                          </a:solidFill>
                          <a:latin typeface="Calibri"/>
                        </a:rPr>
                        <a:t>Extra evaluation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8A7D"/>
                          </a:solidFill>
                          <a:latin typeface="Calibri"/>
                        </a:rPr>
                        <a:t>Human Collision Rate for dynamic/social scenes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97706"/>
                          </a:solidFill>
                          <a:latin typeface="Calibri"/>
                        </a:rPr>
                        <a:t>Hallway / bedroom / office scenarios</a:t>
                      </a:r>
                    </a:p>
                  </a:txBody>
                  <a:tcPr marL="118872" marR="91440" marT="36576" marB="3657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52120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 w="15875">
            <a:solidFill>
              <a:srgbClr val="F0D3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37667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25A06"/>
                </a:solidFill>
                <a:latin typeface="Calibri"/>
              </a:rPr>
              <a:t>Watch this one.  </a:t>
            </a:r>
            <a:r>
              <a:rPr sz="1300" b="0">
                <a:solidFill>
                  <a:srgbClr val="1A1D24"/>
                </a:solidFill>
                <a:latin typeface="Calibri"/>
              </a:rPr>
              <a:t>The paper headlines RGB-only, but the published real-world agent feeds depth into System 1. Our integration therefore sends synchronised depth + intrinsics to DualVLN and records the sensor difference in the benchmark metadata.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55080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Comparison · DualVLN vs StreamVLN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687" y="63550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8A7D"/>
                </a:solidFill>
                <a:latin typeface="Calibri"/>
              </a:rP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D24"/>
                </a:solidFill>
                <a:latin typeface="Calibri"/>
              </a:rPr>
              <a:t>Both models behind one interface in our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786384" cy="4572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200400" cy="566928"/>
          </a:xfrm>
          <a:prstGeom prst="roundRect">
            <a:avLst>
              <a:gd name="adj" fmla="val 28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Isaac Sim  ·  Stretch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/rgb  /depth  /camera_info
/odom  →  /cmd_vel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783080"/>
            <a:ext cx="3931920" cy="566928"/>
          </a:xfrm>
          <a:prstGeom prst="roundRect">
            <a:avLst>
              <a:gd name="adj" fmla="val 28000"/>
            </a:avLst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vln_agent_node  (ROS 2, model-free)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450592"/>
            <a:ext cx="3931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Shared HTTP client (protocol v2)
Shared trajectory follower — 20 Hz, 0.25 m/s, 0.5 rad/s
Identical limits for both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83080"/>
            <a:ext cx="3200400" cy="566928"/>
          </a:xfrm>
          <a:prstGeom prst="roundRect">
            <a:avLst>
              <a:gd name="adj" fmla="val 28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Remote GPU servers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450592"/>
            <a:ext cx="3200400" cy="457200"/>
          </a:xfrm>
          <a:prstGeom prst="roundRect">
            <a:avLst>
              <a:gd name="adj" fmla="val 2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StreamVLN  :18080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017520"/>
            <a:ext cx="3200400" cy="457200"/>
          </a:xfrm>
          <a:prstGeom prst="roundRect">
            <a:avLst>
              <a:gd name="adj" fmla="val 28000"/>
            </a:avLst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DualVLN  :18082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03320" y="1938528"/>
            <a:ext cx="365760" cy="256032"/>
          </a:xfrm>
          <a:prstGeom prst="rightArrow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863840" y="1938528"/>
            <a:ext cx="365760" cy="256032"/>
          </a:xfrm>
          <a:prstGeom prst="rightArrow">
            <a:avLst/>
          </a:prstGeom>
          <a:solidFill>
            <a:srgbClr val="9AA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3749039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31920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050" b="1" i="0">
                <a:solidFill>
                  <a:srgbClr val="0E8A7D"/>
                </a:solidFill>
                <a:latin typeface="Calibri"/>
              </a:rPr>
              <a:t>SWITCHING IS ONE ARGUMENT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E4EAF2"/>
                </a:solidFill>
                <a:latin typeface="Calibri"/>
              </a:rPr>
              <a:t>./run_vln_demo.sh backend:=streamvln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4EAF2"/>
                </a:solidFill>
                <a:latin typeface="Calibri"/>
              </a:rPr>
              <a:t>./run_vln_demo.sh backend:=dualvln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358384"/>
            <a:ext cx="10874959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0E8A7D"/>
                </a:solidFill>
                <a:latin typeface="Calibri"/>
              </a:rPr>
              <a:t>▍ </a:t>
            </a:r>
            <a:r>
              <a:rPr sz="1350" b="1">
                <a:solidFill>
                  <a:srgbClr val="1A1D24"/>
                </a:solidFill>
                <a:latin typeface="Calibri"/>
              </a:rPr>
              <a:t>No model code in any ROS image.</a:t>
            </a:r>
            <a:r>
              <a:rPr sz="1350" b="0">
                <a:solidFill>
                  <a:srgbClr val="6B7280"/>
                </a:solidFill>
                <a:latin typeface="Calibri"/>
              </a:rPr>
              <a:t>  Inference stays in two ROS-free GPU containers; the robot side is an HTTP client plus a controller.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0E8A7D"/>
                </a:solidFill>
                <a:latin typeface="Calibri"/>
              </a:rPr>
              <a:t>▍ </a:t>
            </a:r>
            <a:r>
              <a:rPr sz="1350" b="1">
                <a:solidFill>
                  <a:srgbClr val="1A1D24"/>
                </a:solidFill>
                <a:latin typeface="Calibri"/>
              </a:rPr>
              <a:t>StreamVLN actions become waypoints.</a:t>
            </a:r>
            <a:r>
              <a:rPr sz="1350" b="0">
                <a:solidFill>
                  <a:srgbClr val="6B7280"/>
                </a:solidFill>
                <a:latin typeface="Calibri"/>
              </a:rPr>
              <a:t>  Its 0.25 m / 15° steps convert losslessly into the same trajectory the follower runs for DualVLN — so the controller is never the variable under test.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55080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Integration · stretch_main / vln_policy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84687" y="63550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8A7D"/>
                </a:solidFill>
                <a:latin typeface="Calibri"/>
              </a:rPr>
              <a:t>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D24"/>
                </a:solidFill>
                <a:latin typeface="Calibri"/>
              </a:rPr>
              <a:t>The controlled A/B we can now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786384" cy="4572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5669280" cy="449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0E8A7D"/>
                </a:solidFill>
                <a:latin typeface="Calibri"/>
              </a:rPr>
              <a:t>▍ </a:t>
            </a:r>
            <a:r>
              <a:rPr sz="1400" b="1">
                <a:solidFill>
                  <a:srgbClr val="1A1D24"/>
                </a:solidFill>
                <a:latin typeface="Calibri"/>
              </a:rPr>
              <a:t>Same prompt, verified.</a:t>
            </a:r>
            <a:r>
              <a:rPr sz="1400" b="0">
                <a:solidFill>
                  <a:srgbClr val="6B7280"/>
                </a:solidFill>
                <a:latin typeface="Calibri"/>
              </a:rPr>
              <a:t>  Prompt hashes must match across both models or the run is rejected.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0E8A7D"/>
                </a:solidFill>
                <a:latin typeface="Calibri"/>
              </a:rPr>
              <a:t>▍ </a:t>
            </a:r>
            <a:r>
              <a:rPr sz="1400" b="1">
                <a:solidFill>
                  <a:srgbClr val="1A1D24"/>
                </a:solidFill>
                <a:latin typeface="Calibri"/>
              </a:rPr>
              <a:t>Same reset.</a:t>
            </a:r>
            <a:r>
              <a:rPr sz="1400" b="0">
                <a:solidFill>
                  <a:srgbClr val="6B7280"/>
                </a:solidFill>
                <a:latin typeface="Calibri"/>
              </a:rPr>
              <a:t>  Isaac /set_entity_state teleport, then five consecutive odometry samples within 5 cm / 3° before the clock starts.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0E8A7D"/>
                </a:solidFill>
                <a:latin typeface="Calibri"/>
              </a:rPr>
              <a:t>▍ </a:t>
            </a:r>
            <a:r>
              <a:rPr sz="1400" b="1">
                <a:solidFill>
                  <a:srgbClr val="1A1D24"/>
                </a:solidFill>
                <a:latin typeface="Calibri"/>
              </a:rPr>
              <a:t>Same controller.</a:t>
            </a:r>
            <a:r>
              <a:rPr sz="1400" b="0">
                <a:solidFill>
                  <a:srgbClr val="6B7280"/>
                </a:solidFill>
                <a:latin typeface="Calibri"/>
              </a:rPr>
              <a:t>  20 Hz, 0.25 m/s, 0.5 rad/s, 0.35 m lookahead — identical for both backends.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0E8A7D"/>
                </a:solidFill>
                <a:latin typeface="Calibri"/>
              </a:rPr>
              <a:t>▍ </a:t>
            </a:r>
            <a:r>
              <a:rPr sz="1400" b="1">
                <a:solidFill>
                  <a:srgbClr val="1A1D24"/>
                </a:solidFill>
                <a:latin typeface="Calibri"/>
              </a:rPr>
              <a:t>Order alternated.</a:t>
            </a:r>
            <a:r>
              <a:rPr sz="1400" b="0">
                <a:solidFill>
                  <a:srgbClr val="6B7280"/>
                </a:solidFill>
                <a:latin typeface="Calibri"/>
              </a:rPr>
              <a:t>  Reps 1/3/5 StreamVLN first; reps 2/4 DualVLN first, so warm-up drift cannot favour either.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627632"/>
            <a:ext cx="4983480" cy="3246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810512"/>
            <a:ext cx="44348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100" b="1" i="0">
                <a:solidFill>
                  <a:srgbClr val="6B7280"/>
                </a:solidFill>
                <a:latin typeface="Calibri"/>
              </a:rPr>
              <a:t>WHAT EVERY TRIAL RECORDS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A1D24"/>
                </a:solidFill>
                <a:latin typeface="Calibri"/>
              </a:rPr>
              <a:t>SPL @ 1 m and 3 m   </a:t>
            </a:r>
            <a:r>
              <a:rPr sz="1300" b="0">
                <a:solidFill>
                  <a:srgbClr val="6B7280"/>
                </a:solidFill>
                <a:latin typeface="Calibri"/>
              </a:rPr>
              <a:t>success only if the model itself stops in radius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A1D24"/>
                </a:solidFill>
                <a:latin typeface="Calibri"/>
              </a:rPr>
              <a:t>Executed path   </a:t>
            </a:r>
            <a:r>
              <a:rPr sz="1300" b="0">
                <a:solidFill>
                  <a:srgbClr val="6B7280"/>
                </a:solidFill>
                <a:latin typeface="Calibri"/>
              </a:rPr>
              <a:t>integrated from raw odometry after reset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A1D24"/>
                </a:solidFill>
                <a:latin typeface="Calibri"/>
              </a:rPr>
              <a:t>Shortest path   </a:t>
            </a:r>
            <a:r>
              <a:rPr sz="1300" b="0">
                <a:solidFill>
                  <a:srgbClr val="6B7280"/>
                </a:solidFill>
                <a:latin typeface="Calibri"/>
              </a:rPr>
              <a:t>from a verified reference polyline, never straight-line distance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A1D24"/>
                </a:solidFill>
                <a:latin typeface="Calibri"/>
              </a:rPr>
              <a:t>Rate breakdown   </a:t>
            </a:r>
            <a:r>
              <a:rPr sz="1300" b="0">
                <a:solidFill>
                  <a:srgbClr val="6B7280"/>
                </a:solidFill>
                <a:latin typeface="Calibri"/>
              </a:rPr>
              <a:t>camera Hz, model updates/s, client Hz, server FPS, System 1 / System 2 FPS, controller Hz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A1D24"/>
                </a:solidFill>
                <a:latin typeface="Calibri"/>
              </a:rPr>
              <a:t>Per-step JSONL   </a:t>
            </a:r>
            <a:r>
              <a:rPr sz="1300" b="0">
                <a:solidFill>
                  <a:srgbClr val="6B7280"/>
                </a:solidFill>
                <a:latin typeface="Calibri"/>
              </a:rPr>
              <a:t>one row per /step with poses, output and timings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66928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7706"/>
                </a:solidFill>
                <a:latin typeface="Calibri"/>
              </a:rPr>
              <a:t>Still to do:  </a:t>
            </a:r>
            <a:r>
              <a:rPr sz="1400" b="0">
                <a:solidFill>
                  <a:srgbClr val="1A1D24"/>
                </a:solidFill>
                <a:latin typeface="Calibri"/>
              </a:rPr>
              <a:t>measure and verify the real hospital-scene start poses, goals and reference polylines — the manifest currently holds a placeholder route.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55080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Benchmark · stretch_main / vln_policy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84687" y="63550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E8A7D"/>
                </a:solidFill>
                <a:latin typeface="Calibri"/>
              </a:rPr>
              <a:t>TAKEAWAYS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What to remember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2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8A7D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56231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DualVLN separates thinking from driving.  </a:t>
            </a:r>
            <a:r>
              <a:rPr sz="1400" b="0">
                <a:solidFill>
                  <a:srgbClr val="93A1B4"/>
                </a:solidFill>
                <a:latin typeface="Calibri"/>
              </a:rPr>
              <a:t>A 7B VLM plans at ~2 Hz; a small diffusion policy drives at ~30 Hz. The robot stops waiting for the language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770631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2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8A7D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52343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Latent plans are the contribution.  </a:t>
            </a:r>
            <a:r>
              <a:rPr sz="1400" b="0">
                <a:solidFill>
                  <a:srgbClr val="93A1B4"/>
                </a:solidFill>
                <a:latin typeface="Calibri"/>
              </a:rPr>
              <a:t>A learned vector carries more of the planner's intent than a single pixel goal, and it is trained jointly with the controller that uses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666743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2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8A7D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648455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It wins on every reported metric.  </a:t>
            </a:r>
            <a:r>
              <a:rPr sz="1400" b="0">
                <a:solidFill>
                  <a:srgbClr val="93A1B4"/>
                </a:solidFill>
                <a:latin typeface="Calibri"/>
              </a:rPr>
              <a:t>+7.4 SR on R2R and +8.5 SR on RxR over StreamVLN, with a large nDTW gain — it follows the route, not just the destination.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562855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2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8A7D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544567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StreamVLN is still the simpler system.  </a:t>
            </a:r>
            <a:r>
              <a:rPr sz="1400" b="0">
                <a:solidFill>
                  <a:srgbClr val="93A1B4"/>
                </a:solidFill>
                <a:latin typeface="Calibri"/>
              </a:rPr>
              <a:t>One model, one context, RGB only, permissively usable. DualVLN is 8B, CC BY-NC-SA, and its deployment path wants depth.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458967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2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8A7D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440679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 can now settle it empirically.  </a:t>
            </a:r>
            <a:r>
              <a:rPr sz="1400" b="0">
                <a:solidFill>
                  <a:srgbClr val="93A1B4"/>
                </a:solidFill>
                <a:latin typeface="Calibri"/>
              </a:rPr>
              <a:t>Same prompt, same reset, same controller, five repetitions per route — on our own robot in our own scene.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8A7D"/>
                </a:solidFill>
                <a:latin typeface="Calibri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A1D24"/>
                </a:solidFill>
                <a:latin typeface="Calibri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786384" cy="45720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74959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E8A7D"/>
                </a:solidFill>
                <a:latin typeface="Calibri"/>
              </a:rPr>
              <a:t>▍ </a:t>
            </a:r>
            <a:r>
              <a:rPr sz="1400" b="1">
                <a:solidFill>
                  <a:srgbClr val="1A1D24"/>
                </a:solidFill>
                <a:latin typeface="Calibri"/>
              </a:rPr>
              <a:t>Ground Slow, Move Fast: A Dual-System Foundation Model for Generalizable Vision-and-Language Navigation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     Wei et al., arXiv:2512.08186, December 2025  ·  arxiv.org/abs/2512.08186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E8A7D"/>
                </a:solidFill>
                <a:latin typeface="Calibri"/>
              </a:rPr>
              <a:t>▍ </a:t>
            </a:r>
            <a:r>
              <a:rPr sz="1400" b="1">
                <a:solidFill>
                  <a:srgbClr val="1A1D24"/>
                </a:solidFill>
                <a:latin typeface="Calibri"/>
              </a:rPr>
              <a:t>StreamVLN: Streaming Vision-and-Language Navigation via SlowFast Context Modeling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     arXiv:2507.05240, ICRA 2026  ·  arxiv.org/abs/2507.05240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E8A7D"/>
                </a:solidFill>
                <a:latin typeface="Calibri"/>
              </a:rPr>
              <a:t>▍ </a:t>
            </a:r>
            <a:r>
              <a:rPr sz="1400" b="1">
                <a:solidFill>
                  <a:srgbClr val="1A1D24"/>
                </a:solidFill>
                <a:latin typeface="Calibri"/>
              </a:rPr>
              <a:t>InternVLA-N1-DualVLN checkpoint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     huggingface.co/InternRobotics/InternVLA-N1-DualVLN  ·  CC BY-NC-SA 4.0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E8A7D"/>
                </a:solidFill>
                <a:latin typeface="Calibri"/>
              </a:rPr>
              <a:t>▍ </a:t>
            </a:r>
            <a:r>
              <a:rPr sz="1400" b="1">
                <a:solidFill>
                  <a:srgbClr val="1A1D24"/>
                </a:solidFill>
                <a:latin typeface="Calibri"/>
              </a:rPr>
              <a:t>InternNav — inference code, evaluation protocol, Gradio demo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     github.com/InternRobotics/InternNav  ·  pinned at 7a5c624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E8A7D"/>
                </a:solidFill>
                <a:latin typeface="Calibri"/>
              </a:rPr>
              <a:t>▍ </a:t>
            </a:r>
            <a:r>
              <a:rPr sz="1400" b="1">
                <a:solidFill>
                  <a:srgbClr val="1A1D24"/>
                </a:solidFill>
                <a:latin typeface="Calibri"/>
              </a:rPr>
              <a:t>StreamVLN implementation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     github.com/InternRobotics/StreamVLN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E8A7D"/>
                </a:solidFill>
                <a:latin typeface="Calibri"/>
              </a:rPr>
              <a:t>▍ </a:t>
            </a:r>
            <a:r>
              <a:rPr sz="1400" b="1">
                <a:solidFill>
                  <a:srgbClr val="1A1D24"/>
                </a:solidFill>
                <a:latin typeface="Calibri"/>
              </a:rPr>
              <a:t>Isaac Sim ROS 2 simulation control (/set_entity_state)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     docs.isaacsim.omniverse.nvidia.com  ·  5.1.0 ros2_tutorials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55080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>
                <a:solidFill>
                  <a:srgbClr val="9AA4B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